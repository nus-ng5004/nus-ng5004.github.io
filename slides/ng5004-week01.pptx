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362" r:id="rId3"/>
    <p:sldId id="363" r:id="rId4"/>
    <p:sldId id="364" r:id="rId5"/>
    <p:sldId id="368" r:id="rId6"/>
    <p:sldId id="369" r:id="rId7"/>
    <p:sldId id="365" r:id="rId8"/>
    <p:sldId id="370" r:id="rId9"/>
    <p:sldId id="366" r:id="rId10"/>
    <p:sldId id="371" r:id="rId11"/>
    <p:sldId id="372" r:id="rId12"/>
    <p:sldId id="373" r:id="rId13"/>
    <p:sldId id="367" r:id="rId14"/>
    <p:sldId id="374" r:id="rId15"/>
    <p:sldId id="375" r:id="rId16"/>
    <p:sldId id="376" r:id="rId17"/>
    <p:sldId id="377" r:id="rId18"/>
    <p:sldId id="378" r:id="rId19"/>
    <p:sldId id="3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4B"/>
    <a:srgbClr val="00006A"/>
    <a:srgbClr val="4472C4"/>
    <a:srgbClr val="1DDDDD"/>
    <a:srgbClr val="00003A"/>
    <a:srgbClr val="17A7AA"/>
    <a:srgbClr val="FD774C"/>
    <a:srgbClr val="1519AC"/>
    <a:srgbClr val="FFFFFF"/>
    <a:srgbClr val="294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2"/>
    <p:restoredTop sz="96405"/>
  </p:normalViewPr>
  <p:slideViewPr>
    <p:cSldViewPr snapToGrid="0" snapToObjects="1">
      <p:cViewPr varScale="1">
        <p:scale>
          <a:sx n="121" d="100"/>
          <a:sy n="121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40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FBBCFD-C8DE-0645-AAD8-5CACEEE5A6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8DD6F-EA69-664E-A137-D2308AF657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B74A7-E2B0-9540-89FC-81551F7A2986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94F92-5072-384E-956F-997751817C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F802B-205E-834A-9E9C-6D074B86B3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D2578-0187-B242-BA8B-213D48CA5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1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94865-3145-2841-B86C-25AD8534916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159CF-9468-6641-A499-FC5AF84D3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8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764A5-5977-244A-BC25-F81B5A4678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5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6104-464E-DB44-AEB6-0F51BC90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267F4-6480-2446-8607-C6531FA56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42B4-A0A9-4843-8287-01C67DD9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DF21-773A-3549-A057-9D614C74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0599-7EF9-AA4C-9F1C-7D37C97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72A-7A81-3E47-A79D-5F3880F8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4F9E-A8BE-7E47-ACCC-1399287C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3453-2A05-7140-AED6-5B13A1AA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87C6-25D0-8843-AFDB-ABBE746E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7310-37C7-C34F-9351-059296E6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542D-58BB-7D47-B914-126CCBC6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209D-D803-8C46-91F2-63A07D453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C677-ACDE-814B-8BE4-F7D7B71A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F835-05D4-6541-A63E-8F353E52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DA49-524C-B149-B5C6-3E0A5E8D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953E-B1DB-EA45-91A1-8F55E31C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95D5-29AA-544A-BBB6-AD8DF0397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13A3-5D3C-4F4D-81A0-D514BD852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5A7-C691-B14B-B623-029BE388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86CB4-68E2-704A-A5D7-EA1A5B1B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44FB-9A40-6A48-A052-E7AD999E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2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6455-AE44-BB45-94B8-491D0B64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9F92-F065-794B-8FEB-A71C5F180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1136F-6ECD-9440-A3D6-22DFE8B22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7E49F-3F11-7645-9899-DE20C81EC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32B44-3294-C141-8767-49BDCD53C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A6525-EB57-6241-9FA6-9B1F3E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6B23D-59FF-C64F-A68D-2A4EE96D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A2F09-FFFD-0A49-82A7-613B885E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5D21-3917-1C48-ACFA-B5A12029A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0C4DB-819C-5C41-8A91-DC31604F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8728-243A-694A-B680-72E69EB2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EA73A-DCDF-9249-8BB5-530E12A1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4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FB9C5-99CF-304D-989D-A159A8DB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450F4-7B0A-3046-8F27-28E4FFC0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8476-93C7-7F46-A6FA-A4F93940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DBEB-98AD-1C4B-812C-C6D0DDE2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AB92C-16FF-774C-A637-ADFE8D8CD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BC229-D7E0-E049-BC24-BBEC505B9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3400-A9FB-AE4A-8933-06EB0DF1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E934B-DF71-BE4A-A9CE-083CACD4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B41F3-2AAF-464E-85AA-95215C23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B857-416B-C040-9530-C67358C0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E64BC-D7F4-374E-84F1-B37711D76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0DF7-34BB-6E4D-8EB8-7E49F23A8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CD799-9EC2-BA46-8B3B-311FA004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A3309-4B88-684A-A471-F6CD417C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14026-02B0-7140-82CD-3C53A3BC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9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799A-55B6-C847-B70C-10F8E0F2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E6B14-02AB-134B-9F1A-0E2230E1C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5D72-2568-0A46-A314-B1B263E4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6999-BEDE-614B-9253-9BAA4F8D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E2442-877A-B64F-B1E0-9F20B02E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6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BB52B-5E3E-4F48-B4A7-8490637AB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9C757-A5BC-724B-B14E-F5E1026B7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8B82-C595-5846-A41A-5B1C5976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237B5-E03D-E642-A563-A0DC9D88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297A-880A-9740-B151-1EA51817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6104-464E-DB44-AEB6-0F51BC90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267F4-6480-2446-8607-C6531FA56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42B4-A0A9-4843-8287-01C67DD9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DF21-773A-3549-A057-9D614C74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0599-7EF9-AA4C-9F1C-7D37C97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53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72A-7A81-3E47-A79D-5F3880F8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4F9E-A8BE-7E47-ACCC-1399287C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3453-2A05-7140-AED6-5B13A1AA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87C6-25D0-8843-AFDB-ABBE746E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7310-37C7-C34F-9351-059296E6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6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542D-58BB-7D47-B914-126CCBC6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209D-D803-8C46-91F2-63A07D453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C677-ACDE-814B-8BE4-F7D7B71A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F835-05D4-6541-A63E-8F353E52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DA49-524C-B149-B5C6-3E0A5E8D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4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953E-B1DB-EA45-91A1-8F55E31C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95D5-29AA-544A-BBB6-AD8DF0397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13A3-5D3C-4F4D-81A0-D514BD852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5A7-C691-B14B-B623-029BE388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86CB4-68E2-704A-A5D7-EA1A5B1B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44FB-9A40-6A48-A052-E7AD999E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23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6455-AE44-BB45-94B8-491D0B64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9F92-F065-794B-8FEB-A71C5F180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1136F-6ECD-9440-A3D6-22DFE8B22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7E49F-3F11-7645-9899-DE20C81EC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32B44-3294-C141-8767-49BDCD53C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A6525-EB57-6241-9FA6-9B1F3E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6B23D-59FF-C64F-A68D-2A4EE96D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A2F09-FFFD-0A49-82A7-613B885E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44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5D21-3917-1C48-ACFA-B5A12029A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0C4DB-819C-5C41-8A91-DC31604F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8728-243A-694A-B680-72E69EB2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EA73A-DCDF-9249-8BB5-530E12A1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49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FB9C5-99CF-304D-989D-A159A8DB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450F4-7B0A-3046-8F27-28E4FFC0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8476-93C7-7F46-A6FA-A4F93940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1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DBEB-98AD-1C4B-812C-C6D0DDE2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AB92C-16FF-774C-A637-ADFE8D8CD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BC229-D7E0-E049-BC24-BBEC505B9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3400-A9FB-AE4A-8933-06EB0DF1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E934B-DF71-BE4A-A9CE-083CACD4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B41F3-2AAF-464E-85AA-95215C23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1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B857-416B-C040-9530-C67358C0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E64BC-D7F4-374E-84F1-B37711D76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0DF7-34BB-6E4D-8EB8-7E49F23A8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CD799-9EC2-BA46-8B3B-311FA004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A3309-4B88-684A-A471-F6CD417C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14026-02B0-7140-82CD-3C53A3BC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96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799A-55B6-C847-B70C-10F8E0F2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E6B14-02AB-134B-9F1A-0E2230E1C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5D72-2568-0A46-A314-B1B263E4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6999-BEDE-614B-9253-9BAA4F8D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E2442-877A-B64F-B1E0-9F20B02E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631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BB52B-5E3E-4F48-B4A7-8490637AB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9C757-A5BC-724B-B14E-F5E1026B7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8B82-C595-5846-A41A-5B1C5976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237B5-E03D-E642-A563-A0DC9D88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NG5004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297A-880A-9740-B151-1EA51817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9F762E-1FD8-754E-8272-995B96B8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C915C-AF51-C840-ADD1-D1790249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86713-D06B-3348-927F-E684A16E9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6A469-4F03-9647-B25E-E4FEAC3A3AF0}"/>
              </a:ext>
            </a:extLst>
          </p:cNvPr>
          <p:cNvSpPr txBox="1"/>
          <p:nvPr userDrawn="1"/>
        </p:nvSpPr>
        <p:spPr>
          <a:xfrm>
            <a:off x="8113357" y="6383908"/>
            <a:ext cx="3495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A28C14-A709-794E-9DEB-9B97467CF356}"/>
              </a:ext>
            </a:extLst>
          </p:cNvPr>
          <p:cNvCxnSpPr/>
          <p:nvPr userDrawn="1"/>
        </p:nvCxnSpPr>
        <p:spPr>
          <a:xfrm>
            <a:off x="3877519" y="6516547"/>
            <a:ext cx="738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8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C915C-AF51-C840-ADD1-D1790249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86713-D06B-3348-927F-E684A16E9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6A469-4F03-9647-B25E-E4FEAC3A3AF0}"/>
              </a:ext>
            </a:extLst>
          </p:cNvPr>
          <p:cNvSpPr txBox="1"/>
          <p:nvPr userDrawn="1"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A28C14-A709-794E-9DEB-9B97467CF356}"/>
              </a:ext>
            </a:extLst>
          </p:cNvPr>
          <p:cNvCxnSpPr/>
          <p:nvPr userDrawn="1"/>
        </p:nvCxnSpPr>
        <p:spPr>
          <a:xfrm>
            <a:off x="3877519" y="6516547"/>
            <a:ext cx="5778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8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B085C1-F3B3-2843-9393-1F921107C4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C447C-1E9B-E144-A43F-E5902D4770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4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" t="25000" r="-1" b="1"/>
          <a:stretch/>
        </p:blipFill>
        <p:spPr>
          <a:xfrm>
            <a:off x="0" y="31068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8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46269-F170-7546-9096-118310578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30" y="1216505"/>
            <a:ext cx="9630049" cy="2890800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“Beyond” </a:t>
            </a:r>
            <a:b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PhD Thesis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9F826-F448-4149-A65F-DDC50A03DF25}"/>
              </a:ext>
            </a:extLst>
          </p:cNvPr>
          <p:cNvSpPr txBox="1"/>
          <p:nvPr/>
        </p:nvSpPr>
        <p:spPr>
          <a:xfrm>
            <a:off x="583603" y="4323536"/>
            <a:ext cx="325799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Abhik Roychoudhury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University of Singapore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abhik@nus.edu.sg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https://abhikrc.com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905F5B-DFF8-7741-8BFE-50CC5804724C}"/>
              </a:ext>
            </a:extLst>
          </p:cNvPr>
          <p:cNvCxnSpPr>
            <a:cxnSpLocks/>
          </p:cNvCxnSpPr>
          <p:nvPr/>
        </p:nvCxnSpPr>
        <p:spPr>
          <a:xfrm>
            <a:off x="645459" y="4107305"/>
            <a:ext cx="7100047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501E1-6715-142F-FEA9-AF3ACE32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1527080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E0EFAF0-D035-5D49-8A02-AE2F0FCF9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6A3140-070D-3B49-A5B4-D2F16A273E43}"/>
              </a:ext>
            </a:extLst>
          </p:cNvPr>
          <p:cNvSpPr txBox="1">
            <a:spLocks/>
          </p:cNvSpPr>
          <p:nvPr/>
        </p:nvSpPr>
        <p:spPr>
          <a:xfrm>
            <a:off x="583603" y="631801"/>
            <a:ext cx="3952258" cy="62126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of PhD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69634-7323-E946-82D5-A003C300A177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402B53-9CE6-2449-B549-1F8EAA763476}"/>
              </a:ext>
            </a:extLst>
          </p:cNvPr>
          <p:cNvGrpSpPr/>
          <p:nvPr/>
        </p:nvGrpSpPr>
        <p:grpSpPr>
          <a:xfrm>
            <a:off x="2149354" y="2229554"/>
            <a:ext cx="1800000" cy="2698045"/>
            <a:chOff x="3621770" y="1655315"/>
            <a:chExt cx="1800000" cy="2698045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66C7609-8A40-364A-A6E1-16C1A7C522B1}"/>
                </a:ext>
              </a:extLst>
            </p:cNvPr>
            <p:cNvSpPr/>
            <p:nvPr/>
          </p:nvSpPr>
          <p:spPr>
            <a:xfrm>
              <a:off x="3621770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4E5872F-1D3B-194A-BD44-5F67B5D69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981771" y="2179856"/>
              <a:ext cx="1080000" cy="1080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B2EE3C-B6E5-9745-830C-97B4075B2BA4}"/>
                </a:ext>
              </a:extLst>
            </p:cNvPr>
            <p:cNvSpPr txBox="1"/>
            <p:nvPr/>
          </p:nvSpPr>
          <p:spPr>
            <a:xfrm>
              <a:off x="3804389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Process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CB673DC-8B83-EC49-941D-2934FFA75B7D}"/>
              </a:ext>
            </a:extLst>
          </p:cNvPr>
          <p:cNvGrpSpPr/>
          <p:nvPr/>
        </p:nvGrpSpPr>
        <p:grpSpPr>
          <a:xfrm>
            <a:off x="8236606" y="2229554"/>
            <a:ext cx="1800000" cy="2698045"/>
            <a:chOff x="9709022" y="1655315"/>
            <a:chExt cx="1800000" cy="269804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CF8EF854-23B1-B349-92C9-FF4D871E19B4}"/>
                </a:ext>
              </a:extLst>
            </p:cNvPr>
            <p:cNvSpPr/>
            <p:nvPr/>
          </p:nvSpPr>
          <p:spPr>
            <a:xfrm>
              <a:off x="9709022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B7A3F6F-EB6C-EF40-8BE2-85987F1E1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067559" y="2179856"/>
              <a:ext cx="1080000" cy="108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12A6B1-C32F-DE46-9188-FC83AA02A769}"/>
                </a:ext>
              </a:extLst>
            </p:cNvPr>
            <p:cNvSpPr txBox="1"/>
            <p:nvPr/>
          </p:nvSpPr>
          <p:spPr>
            <a:xfrm>
              <a:off x="9883906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4"/>
                  </a:solidFill>
                </a:rPr>
                <a:t> Mindset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31A6C6F-81CF-6A46-894A-05D425CCA5C3}"/>
              </a:ext>
            </a:extLst>
          </p:cNvPr>
          <p:cNvGrpSpPr/>
          <p:nvPr/>
        </p:nvGrpSpPr>
        <p:grpSpPr>
          <a:xfrm>
            <a:off x="4178438" y="2229554"/>
            <a:ext cx="1800000" cy="2698045"/>
            <a:chOff x="5650854" y="1655315"/>
            <a:chExt cx="1800000" cy="2698045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AE274638-CB1C-5A4A-A555-AE7143A4148A}"/>
                </a:ext>
              </a:extLst>
            </p:cNvPr>
            <p:cNvSpPr/>
            <p:nvPr/>
          </p:nvSpPr>
          <p:spPr>
            <a:xfrm>
              <a:off x="5650854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6F43594-CC67-094B-AF48-7A814A9B2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08277" y="2179856"/>
              <a:ext cx="1080000" cy="1080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BEB9C9-1003-9145-A734-D0801B897C6F}"/>
                </a:ext>
              </a:extLst>
            </p:cNvPr>
            <p:cNvSpPr txBox="1"/>
            <p:nvPr/>
          </p:nvSpPr>
          <p:spPr>
            <a:xfrm>
              <a:off x="5835481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Outcome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BE3CC4B-3C56-EC47-A5A2-90A07A915727}"/>
              </a:ext>
            </a:extLst>
          </p:cNvPr>
          <p:cNvGrpSpPr/>
          <p:nvPr/>
        </p:nvGrpSpPr>
        <p:grpSpPr>
          <a:xfrm>
            <a:off x="6207522" y="2229554"/>
            <a:ext cx="1800000" cy="2698045"/>
            <a:chOff x="7679938" y="1655315"/>
            <a:chExt cx="1800000" cy="2698045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6ADC50C0-650E-6B4B-838E-EFAF0B641BBF}"/>
                </a:ext>
              </a:extLst>
            </p:cNvPr>
            <p:cNvSpPr/>
            <p:nvPr/>
          </p:nvSpPr>
          <p:spPr>
            <a:xfrm>
              <a:off x="7679938" y="1655315"/>
              <a:ext cx="1800000" cy="2698045"/>
            </a:xfrm>
            <a:prstGeom prst="roundRect">
              <a:avLst>
                <a:gd name="adj" fmla="val 9797"/>
              </a:avLst>
            </a:prstGeom>
            <a:solidFill>
              <a:srgbClr val="00004B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49B97F6-5F5A-7D46-89CA-667F4350F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34782" y="2179856"/>
              <a:ext cx="1080000" cy="108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D1AE7B-46E5-524D-9D76-D52AF06E7EC4}"/>
                </a:ext>
              </a:extLst>
            </p:cNvPr>
            <p:cNvSpPr txBox="1"/>
            <p:nvPr/>
          </p:nvSpPr>
          <p:spPr>
            <a:xfrm>
              <a:off x="7855935" y="3463252"/>
              <a:ext cx="14347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Skills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FB41A2CE-FEDE-D94D-BC88-CF2375E406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91639" y="3979728"/>
            <a:ext cx="2878272" cy="287827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C2DA9-EA70-AD4C-28AE-C3AD5F53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cxnSp>
        <p:nvCxnSpPr>
          <p:cNvPr id="195" name="Footer Rule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Slide Number Box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A002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0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CED7ED9D-9390-F244-B8A9-B715A747A4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9DFFACE-1702-E445-8FE5-D9A7D394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8943D72-AB69-5E4A-B873-758529666A3B}"/>
              </a:ext>
            </a:extLst>
          </p:cNvPr>
          <p:cNvSpPr/>
          <p:nvPr/>
        </p:nvSpPr>
        <p:spPr>
          <a:xfrm>
            <a:off x="5816062" y="2406003"/>
            <a:ext cx="5719853" cy="3067291"/>
          </a:xfrm>
          <a:prstGeom prst="roundRect">
            <a:avLst>
              <a:gd name="adj" fmla="val 5153"/>
            </a:avLst>
          </a:prstGeom>
          <a:solidFill>
            <a:srgbClr val="00006A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7928B4A-F018-954A-B2D1-466F8DA51A44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975C1-505D-764A-A943-0BA45500723E}"/>
              </a:ext>
            </a:extLst>
          </p:cNvPr>
          <p:cNvSpPr txBox="1"/>
          <p:nvPr/>
        </p:nvSpPr>
        <p:spPr>
          <a:xfrm>
            <a:off x="2026369" y="2654318"/>
            <a:ext cx="490277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Develops a Mindset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(on the way) </a:t>
            </a:r>
          </a:p>
          <a:p>
            <a:r>
              <a:rPr lang="en-US" dirty="0">
                <a:solidFill>
                  <a:schemeClr val="bg1"/>
                </a:solidFill>
              </a:rPr>
              <a:t>Requires / grows skills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(as result) </a:t>
            </a:r>
          </a:p>
          <a:p>
            <a:r>
              <a:rPr lang="en-US" dirty="0">
                <a:solidFill>
                  <a:schemeClr val="bg1"/>
                </a:solidFill>
              </a:rPr>
              <a:t>Pleasant Outcomes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(on the way) </a:t>
            </a:r>
          </a:p>
          <a:p>
            <a:r>
              <a:rPr lang="en-US" dirty="0">
                <a:solidFill>
                  <a:schemeClr val="bg1"/>
                </a:solidFill>
              </a:rPr>
              <a:t>There is a process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4B9D0A-629C-B746-810F-17D2DE4E1217}"/>
              </a:ext>
            </a:extLst>
          </p:cNvPr>
          <p:cNvSpPr/>
          <p:nvPr/>
        </p:nvSpPr>
        <p:spPr>
          <a:xfrm>
            <a:off x="7086707" y="2686739"/>
            <a:ext cx="26043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(good PhD)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12D6B6-0CA0-BF40-93F3-0A4874E75830}"/>
              </a:ext>
            </a:extLst>
          </p:cNvPr>
          <p:cNvSpPr/>
          <p:nvPr/>
        </p:nvSpPr>
        <p:spPr>
          <a:xfrm>
            <a:off x="7086707" y="3542605"/>
            <a:ext cx="26043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-US" sz="5400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(excellent PhD)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908475-C1F9-1E40-9FEB-20AB373C6D5E}"/>
              </a:ext>
            </a:extLst>
          </p:cNvPr>
          <p:cNvSpPr/>
          <p:nvPr/>
        </p:nvSpPr>
        <p:spPr>
          <a:xfrm>
            <a:off x="7086707" y="4398470"/>
            <a:ext cx="288431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i="1" dirty="0">
                <a:solidFill>
                  <a:schemeClr val="accent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…   (secret ingredient)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3602" y="378494"/>
            <a:ext cx="3949487" cy="1218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A7D7B4-2095-034B-A2A7-51A71C72F5C7}"/>
              </a:ext>
            </a:extLst>
          </p:cNvPr>
          <p:cNvSpPr/>
          <p:nvPr/>
        </p:nvSpPr>
        <p:spPr>
          <a:xfrm rot="5400000">
            <a:off x="202639" y="593253"/>
            <a:ext cx="4500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8CBC685-DB78-7548-9BAE-DFE55078C03F}"/>
              </a:ext>
            </a:extLst>
          </p:cNvPr>
          <p:cNvSpPr/>
          <p:nvPr/>
        </p:nvSpPr>
        <p:spPr>
          <a:xfrm>
            <a:off x="6544808" y="2115496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5800ACE4-0371-3E4A-8BCC-3E940A65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119" y="1718699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PhD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0A39931-BA87-CE4D-94F1-A8A9B73E43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4637498"/>
            <a:ext cx="527909" cy="52790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3A5023C-6277-4F44-97C8-5824A7286F8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2599844"/>
            <a:ext cx="527909" cy="52790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024CAEF-C212-854D-A4AB-7BAEFC38207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3924710"/>
            <a:ext cx="527909" cy="52790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6BF3B5E-7B3D-5F4B-8CC6-7909F33F844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7769" y="3238309"/>
            <a:ext cx="527909" cy="52790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61EF48-7496-1AD1-EB6B-6EE91B91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cxnSp>
        <p:nvCxnSpPr>
          <p:cNvPr id="195" name="Footer Rule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Slide Number Box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A003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56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F77C7D12-672C-EA4D-AF17-BDE4AEEC666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756BE0B-7B05-8640-AA56-AADEF1ED453E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A045AE7-75EC-264B-A209-1E505F416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93508" y="589002"/>
            <a:ext cx="7947449" cy="864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Cannot Change in 1 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ACB52-C622-E345-AC29-7D0256E4F888}"/>
              </a:ext>
            </a:extLst>
          </p:cNvPr>
          <p:cNvGrpSpPr/>
          <p:nvPr/>
        </p:nvGrpSpPr>
        <p:grpSpPr>
          <a:xfrm>
            <a:off x="1361829" y="3088000"/>
            <a:ext cx="3978976" cy="1222375"/>
            <a:chOff x="1233055" y="2495774"/>
            <a:chExt cx="3978976" cy="1222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89DAC8-79F0-194B-AC94-ECFD7F857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5" y="2495774"/>
              <a:ext cx="609598" cy="57993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82B6020-8BBE-824D-B9D4-18FC4353EA27}"/>
                </a:ext>
              </a:extLst>
            </p:cNvPr>
            <p:cNvCxnSpPr/>
            <p:nvPr/>
          </p:nvCxnSpPr>
          <p:spPr>
            <a:xfrm>
              <a:off x="1537855" y="3075709"/>
              <a:ext cx="609600" cy="49101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A7DFEA-431C-9B42-AE77-BA1215D3EE28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0" cy="1070953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A1A04E-74DE-9644-85A4-AAB08EC0FB44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1828797" cy="82544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BDE0AF-94F9-8047-A093-A7BB76A50F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453" y="2764715"/>
              <a:ext cx="1828799" cy="80201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046A135-006A-E546-A0D4-988C78A50CC5}"/>
                </a:ext>
              </a:extLst>
            </p:cNvPr>
            <p:cNvCxnSpPr/>
            <p:nvPr/>
          </p:nvCxnSpPr>
          <p:spPr>
            <a:xfrm>
              <a:off x="3976255" y="2764715"/>
              <a:ext cx="0" cy="55650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8C9769-FA5D-D24E-BF36-D2A7D9A8425A}"/>
                </a:ext>
              </a:extLst>
            </p:cNvPr>
            <p:cNvSpPr txBox="1"/>
            <p:nvPr/>
          </p:nvSpPr>
          <p:spPr>
            <a:xfrm>
              <a:off x="1233055" y="3348817"/>
              <a:ext cx="8631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EC63B0-B1C8-D148-B3FB-FB389E7E8AB2}"/>
                </a:ext>
              </a:extLst>
            </p:cNvPr>
            <p:cNvSpPr txBox="1"/>
            <p:nvPr/>
          </p:nvSpPr>
          <p:spPr>
            <a:xfrm>
              <a:off x="2620617" y="3348817"/>
              <a:ext cx="914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Focus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3DAAE6-F674-034F-9C69-874142D6271B}"/>
                </a:ext>
              </a:extLst>
            </p:cNvPr>
            <p:cNvSpPr txBox="1"/>
            <p:nvPr/>
          </p:nvSpPr>
          <p:spPr>
            <a:xfrm>
              <a:off x="3795122" y="3348817"/>
              <a:ext cx="14169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Articulate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912EEB9-E414-D840-BEF0-93462A86D4ED}"/>
              </a:ext>
            </a:extLst>
          </p:cNvPr>
          <p:cNvSpPr txBox="1"/>
          <p:nvPr/>
        </p:nvSpPr>
        <p:spPr>
          <a:xfrm>
            <a:off x="1661796" y="4583481"/>
            <a:ext cx="296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egoe Script" panose="020B0804020000000003" pitchFamily="34" charset="0"/>
              </a:rPr>
              <a:t>Fish model of PhD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3975C5-3987-1C48-A68A-3ACAF15A9DF9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55E4EC9-7415-7D48-8232-9C47A6936956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CA2F22-6512-64FF-7B1A-24A819507F61}"/>
              </a:ext>
            </a:extLst>
          </p:cNvPr>
          <p:cNvSpPr txBox="1"/>
          <p:nvPr/>
        </p:nvSpPr>
        <p:spPr>
          <a:xfrm>
            <a:off x="6511332" y="3577213"/>
            <a:ext cx="310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Commensurate with a </a:t>
            </a:r>
          </a:p>
          <a:p>
            <a:r>
              <a:rPr lang="en-US" dirty="0">
                <a:solidFill>
                  <a:srgbClr val="FFFF00"/>
                </a:solidFill>
              </a:rPr>
              <a:t>process oriented view.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D5B4A-0C66-F1B2-90C5-A6F862E9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407379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CEAD8-53E1-7FCD-0C4E-235E3AD7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80312E0-519A-C5D1-0DC4-FEDD1FE596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0331ACB-A907-0CC1-498E-E348FE5F4C4C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7881A3E-9863-0FFB-DD89-5A0C08CA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18A1495-636B-C5F6-1A90-8D54BF3D0BD1}"/>
              </a:ext>
            </a:extLst>
          </p:cNvPr>
          <p:cNvSpPr/>
          <p:nvPr/>
        </p:nvSpPr>
        <p:spPr>
          <a:xfrm>
            <a:off x="5816062" y="2406003"/>
            <a:ext cx="5719853" cy="3067291"/>
          </a:xfrm>
          <a:prstGeom prst="roundRect">
            <a:avLst>
              <a:gd name="adj" fmla="val 5153"/>
            </a:avLst>
          </a:prstGeom>
          <a:solidFill>
            <a:srgbClr val="00006A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70057AA-4BF8-A0A4-4DC5-7FE8303A1DA3}"/>
              </a:ext>
            </a:extLst>
          </p:cNvPr>
          <p:cNvSpPr/>
          <p:nvPr/>
        </p:nvSpPr>
        <p:spPr>
          <a:xfrm>
            <a:off x="638946" y="2406003"/>
            <a:ext cx="5008820" cy="3067291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3D5CA269-A71D-7313-616B-2ED441F29581}"/>
              </a:ext>
            </a:extLst>
          </p:cNvPr>
          <p:cNvSpPr txBox="1">
            <a:spLocks/>
          </p:cNvSpPr>
          <p:nvPr/>
        </p:nvSpPr>
        <p:spPr>
          <a:xfrm>
            <a:off x="588653" y="600281"/>
            <a:ext cx="4276265" cy="642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Obvious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88BFA5-6635-53DE-D804-45AB739DF517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4D1D44-ACDA-BD1B-15AE-2F762BD6D2D4}"/>
              </a:ext>
            </a:extLst>
          </p:cNvPr>
          <p:cNvGrpSpPr/>
          <p:nvPr/>
        </p:nvGrpSpPr>
        <p:grpSpPr>
          <a:xfrm>
            <a:off x="1361829" y="3088000"/>
            <a:ext cx="3978976" cy="1222375"/>
            <a:chOff x="1233055" y="2495774"/>
            <a:chExt cx="3978976" cy="1222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C41A38-0F1B-8917-650D-FD171473E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5" y="2495774"/>
              <a:ext cx="609598" cy="57993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BFD47B1-6A7B-581B-C5ED-7C4580A4A2A8}"/>
                </a:ext>
              </a:extLst>
            </p:cNvPr>
            <p:cNvCxnSpPr/>
            <p:nvPr/>
          </p:nvCxnSpPr>
          <p:spPr>
            <a:xfrm>
              <a:off x="1537855" y="3075709"/>
              <a:ext cx="609600" cy="49101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545F44-2166-429C-8638-C802F7A195AE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0" cy="1070953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FD1890-37E2-9D8E-9752-8693AFB3CA55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55" y="2495774"/>
              <a:ext cx="1828797" cy="82544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1375FF5-5E59-9755-777C-6B29FD054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453" y="2764715"/>
              <a:ext cx="1828799" cy="80201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A168D6E-D459-3141-2737-1A6D2B0893D0}"/>
                </a:ext>
              </a:extLst>
            </p:cNvPr>
            <p:cNvCxnSpPr/>
            <p:nvPr/>
          </p:nvCxnSpPr>
          <p:spPr>
            <a:xfrm>
              <a:off x="3976255" y="2764715"/>
              <a:ext cx="0" cy="55650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C8A2CC-5BB6-EBDA-50A5-5ED4466BC12F}"/>
                </a:ext>
              </a:extLst>
            </p:cNvPr>
            <p:cNvSpPr txBox="1"/>
            <p:nvPr/>
          </p:nvSpPr>
          <p:spPr>
            <a:xfrm>
              <a:off x="1233055" y="3348817"/>
              <a:ext cx="8631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4485D3-96E6-4B52-8DDD-E686C30A48F3}"/>
                </a:ext>
              </a:extLst>
            </p:cNvPr>
            <p:cNvSpPr txBox="1"/>
            <p:nvPr/>
          </p:nvSpPr>
          <p:spPr>
            <a:xfrm>
              <a:off x="2620617" y="3348817"/>
              <a:ext cx="914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Focus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3F22D4-FE20-A0A5-7795-39E4B998A080}"/>
                </a:ext>
              </a:extLst>
            </p:cNvPr>
            <p:cNvSpPr txBox="1"/>
            <p:nvPr/>
          </p:nvSpPr>
          <p:spPr>
            <a:xfrm>
              <a:off x="3795122" y="3348817"/>
              <a:ext cx="14169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Articulate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DD4B9EA-5ED0-6550-BA4C-7FFF6B172E62}"/>
              </a:ext>
            </a:extLst>
          </p:cNvPr>
          <p:cNvSpPr txBox="1"/>
          <p:nvPr/>
        </p:nvSpPr>
        <p:spPr>
          <a:xfrm>
            <a:off x="1661796" y="4583481"/>
            <a:ext cx="296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egoe Script" panose="020B0804020000000003" pitchFamily="34" charset="0"/>
              </a:rPr>
              <a:t>Fish model of PhD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0B0194-7D7F-4B97-8683-67A0CC4E4094}"/>
              </a:ext>
            </a:extLst>
          </p:cNvPr>
          <p:cNvSpPr txBox="1"/>
          <p:nvPr/>
        </p:nvSpPr>
        <p:spPr>
          <a:xfrm>
            <a:off x="6313886" y="2741674"/>
            <a:ext cx="463302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Reading a paper (state-of-the-art) and quickly judging a </a:t>
            </a:r>
            <a:r>
              <a:rPr lang="en-US" b="1" dirty="0">
                <a:solidFill>
                  <a:schemeClr val="accent4"/>
                </a:solidFill>
              </a:rPr>
              <a:t>contribution</a:t>
            </a:r>
            <a:endParaRPr lang="en-US" dirty="0">
              <a:solidFill>
                <a:schemeClr val="accent4"/>
              </a:solidFill>
            </a:endParaRPr>
          </a:p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the contributions of each paper</a:t>
            </a:r>
          </a:p>
          <a:p>
            <a:pPr marL="742950" lvl="2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Chart the growth of a research area </a:t>
            </a:r>
          </a:p>
          <a:p>
            <a:pPr marL="742950" lvl="2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emerging research trends</a:t>
            </a:r>
          </a:p>
          <a:p>
            <a:pPr marL="216000" indent="-2160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Involves pro-actively looking </a:t>
            </a:r>
            <a:r>
              <a:rPr lang="en-US" b="1" dirty="0">
                <a:solidFill>
                  <a:schemeClr val="accent4"/>
                </a:solidFill>
              </a:rPr>
              <a:t>outside</a:t>
            </a:r>
            <a:r>
              <a:rPr lang="en-US" dirty="0">
                <a:solidFill>
                  <a:schemeClr val="bg1"/>
                </a:solidFill>
              </a:rPr>
              <a:t>, and doing so analytically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17BFBD-7B1F-483A-73C4-D7CC1C91FBFF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76B6A3-DCDB-A86D-8C81-2DC1D212F049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014E8-7056-2E86-378E-B4F69523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88925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FF3A044-A281-8F48-B9FC-153B30025E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3DA7E8-A06D-AA4D-B673-87D6D463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2710255" y="2339789"/>
            <a:ext cx="6771491" cy="3469682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86664" y="582622"/>
            <a:ext cx="3949487" cy="7278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Attribute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89DAC8-79F0-194B-AC94-ECFD7F857869}"/>
              </a:ext>
            </a:extLst>
          </p:cNvPr>
          <p:cNvCxnSpPr>
            <a:cxnSpLocks/>
          </p:cNvCxnSpPr>
          <p:nvPr/>
        </p:nvCxnSpPr>
        <p:spPr>
          <a:xfrm flipV="1">
            <a:off x="4024270" y="3280689"/>
            <a:ext cx="986628" cy="9386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2B6020-8BBE-824D-B9D4-18FC4353EA27}"/>
              </a:ext>
            </a:extLst>
          </p:cNvPr>
          <p:cNvCxnSpPr/>
          <p:nvPr/>
        </p:nvCxnSpPr>
        <p:spPr>
          <a:xfrm>
            <a:off x="4024270" y="4219308"/>
            <a:ext cx="986632" cy="7947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A7DFEA-431C-9B42-AE77-BA1215D3EE28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0" cy="1733326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A1A04E-74DE-9644-85A4-AAB08EC0FB44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2959890" cy="133597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BDE0AF-94F9-8047-A093-A7BB76A50FD2}"/>
              </a:ext>
            </a:extLst>
          </p:cNvPr>
          <p:cNvCxnSpPr>
            <a:cxnSpLocks/>
          </p:cNvCxnSpPr>
          <p:nvPr/>
        </p:nvCxnSpPr>
        <p:spPr>
          <a:xfrm flipV="1">
            <a:off x="5010899" y="3715967"/>
            <a:ext cx="2959893" cy="129804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6A135-006A-E546-A0D4-988C78A50CC5}"/>
              </a:ext>
            </a:extLst>
          </p:cNvPr>
          <p:cNvCxnSpPr/>
          <p:nvPr/>
        </p:nvCxnSpPr>
        <p:spPr>
          <a:xfrm>
            <a:off x="7970797" y="3715967"/>
            <a:ext cx="0" cy="90069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784EB5-9901-5643-927B-C1EB0AF11273}"/>
              </a:ext>
            </a:extLst>
          </p:cNvPr>
          <p:cNvSpPr/>
          <p:nvPr/>
        </p:nvSpPr>
        <p:spPr>
          <a:xfrm>
            <a:off x="3733332" y="4675544"/>
            <a:ext cx="880907" cy="3831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DDDDD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C9769-FA5D-D24E-BF36-D2A7D9A8425A}"/>
              </a:ext>
            </a:extLst>
          </p:cNvPr>
          <p:cNvSpPr txBox="1"/>
          <p:nvPr/>
        </p:nvSpPr>
        <p:spPr>
          <a:xfrm>
            <a:off x="3772996" y="4661330"/>
            <a:ext cx="1397078" cy="597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4B"/>
                </a:solidFill>
              </a:rPr>
              <a:t>Learn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EC63B0-B1C8-D148-B3FB-FB389E7E8AB2}"/>
              </a:ext>
            </a:extLst>
          </p:cNvPr>
          <p:cNvSpPr txBox="1"/>
          <p:nvPr/>
        </p:nvSpPr>
        <p:spPr>
          <a:xfrm>
            <a:off x="5776710" y="4661330"/>
            <a:ext cx="1479947" cy="597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3DAAE6-F674-034F-9C69-874142D6271B}"/>
              </a:ext>
            </a:extLst>
          </p:cNvPr>
          <p:cNvSpPr txBox="1"/>
          <p:nvPr/>
        </p:nvSpPr>
        <p:spPr>
          <a:xfrm>
            <a:off x="7677636" y="4661330"/>
            <a:ext cx="1184442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Articulate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3B49EA-5556-484A-9C80-E38565C45610}"/>
              </a:ext>
            </a:extLst>
          </p:cNvPr>
          <p:cNvSpPr/>
          <p:nvPr/>
        </p:nvSpPr>
        <p:spPr>
          <a:xfrm>
            <a:off x="4131386" y="2107325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2FC99AB-61F9-324C-9396-ACBCB527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131" y="1731881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Initiative &amp; Interest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3815F3-F837-1F18-6C5F-E077D14D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cxnSp>
        <p:nvCxnSpPr>
          <p:cNvPr id="195" name="Footer Rule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Slide Number Box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A006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364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CDB1427-2347-7447-90F3-BD48CED055B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88BE008-AAD9-074E-9D71-8E09CC01765E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043FDD0-093F-4C43-8763-34787549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91536" y="634079"/>
            <a:ext cx="5292763" cy="839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Obvious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4CC9A-5B94-B04A-90CD-35E9FD25802A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3236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ADAB23-4EC2-9F47-BA6A-F01CF8430032}"/>
              </a:ext>
            </a:extLst>
          </p:cNvPr>
          <p:cNvSpPr txBox="1"/>
          <p:nvPr/>
        </p:nvSpPr>
        <p:spPr>
          <a:xfrm>
            <a:off x="5840872" y="2572729"/>
            <a:ext cx="5299884" cy="26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Choosing the right problems at the </a:t>
            </a:r>
            <a:r>
              <a:rPr lang="en-US" b="1" dirty="0">
                <a:solidFill>
                  <a:schemeClr val="bg1"/>
                </a:solidFill>
              </a:rPr>
              <a:t>right time</a:t>
            </a:r>
            <a:endParaRPr lang="en-US" dirty="0">
              <a:solidFill>
                <a:schemeClr val="bg1"/>
              </a:solidFill>
            </a:endParaRP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Choosing from a </a:t>
            </a:r>
            <a:r>
              <a:rPr lang="en-US" sz="1600" b="1" i="1" dirty="0">
                <a:solidFill>
                  <a:schemeClr val="bg1"/>
                </a:solidFill>
              </a:rPr>
              <a:t>known set </a:t>
            </a:r>
            <a:r>
              <a:rPr lang="en-US" sz="1600" dirty="0">
                <a:solidFill>
                  <a:schemeClr val="bg1"/>
                </a:solidFill>
              </a:rPr>
              <a:t>of problems</a:t>
            </a: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Why will it be impactful if you study it now?</a:t>
            </a:r>
          </a:p>
          <a:p>
            <a:pPr marL="673200" lvl="2" indent="-21600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What technical skills and background are needed, AND</a:t>
            </a: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Why </a:t>
            </a:r>
            <a:r>
              <a:rPr lang="en-US" i="1" u="sng" dirty="0">
                <a:solidFill>
                  <a:schemeClr val="bg1"/>
                </a:solidFill>
              </a:rPr>
              <a:t>you</a:t>
            </a:r>
            <a:r>
              <a:rPr lang="en-US" i="1" dirty="0">
                <a:solidFill>
                  <a:schemeClr val="bg1"/>
                </a:solidFill>
              </a:rPr>
              <a:t> are the right person right now to tackle this problem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Looking </a:t>
            </a:r>
            <a:r>
              <a:rPr lang="en-US" b="1" dirty="0">
                <a:solidFill>
                  <a:schemeClr val="bg1"/>
                </a:solidFill>
              </a:rPr>
              <a:t>inside </a:t>
            </a:r>
            <a:r>
              <a:rPr lang="en-US" dirty="0">
                <a:solidFill>
                  <a:schemeClr val="bg1"/>
                </a:solidFill>
              </a:rPr>
              <a:t>yourself: </a:t>
            </a:r>
            <a:r>
              <a:rPr lang="en-US" b="1" i="1" dirty="0">
                <a:solidFill>
                  <a:schemeClr val="accent4"/>
                </a:solidFill>
              </a:rPr>
              <a:t>reflection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A6DFF5-CC1F-4E4D-B24F-57FBDB1507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631" y="2828314"/>
            <a:ext cx="4839004" cy="2129041"/>
          </a:xfrm>
          <a:prstGeom prst="roundRect">
            <a:avLst>
              <a:gd name="adj" fmla="val 5365"/>
            </a:avLst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AA86552-7972-2644-9FA7-0A28CC7BA7BC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7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FD19BF-B3C5-2541-8B39-4BD3D861033F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9B8EE9-120D-7DE6-9820-37F9420C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277655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B131932-4601-864B-A0B0-45E86BCD48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831F2E-80BC-A640-B3DD-AC7AB1FD2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205A3D-3362-4D45-90FB-8E7E6D08AD71}"/>
              </a:ext>
            </a:extLst>
          </p:cNvPr>
          <p:cNvSpPr/>
          <p:nvPr/>
        </p:nvSpPr>
        <p:spPr>
          <a:xfrm>
            <a:off x="2710255" y="2339789"/>
            <a:ext cx="6771491" cy="3469682"/>
          </a:xfrm>
          <a:prstGeom prst="roundRect">
            <a:avLst>
              <a:gd name="adj" fmla="val 5153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32607" y="592536"/>
            <a:ext cx="4355296" cy="6700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Attribute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89DAC8-79F0-194B-AC94-ECFD7F857869}"/>
              </a:ext>
            </a:extLst>
          </p:cNvPr>
          <p:cNvCxnSpPr>
            <a:cxnSpLocks/>
          </p:cNvCxnSpPr>
          <p:nvPr/>
        </p:nvCxnSpPr>
        <p:spPr>
          <a:xfrm flipV="1">
            <a:off x="4024270" y="3280689"/>
            <a:ext cx="986628" cy="93862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2B6020-8BBE-824D-B9D4-18FC4353EA27}"/>
              </a:ext>
            </a:extLst>
          </p:cNvPr>
          <p:cNvCxnSpPr/>
          <p:nvPr/>
        </p:nvCxnSpPr>
        <p:spPr>
          <a:xfrm>
            <a:off x="4024270" y="4219308"/>
            <a:ext cx="986632" cy="7947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A7DFEA-431C-9B42-AE77-BA1215D3EE28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0" cy="1733326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A1A04E-74DE-9644-85A4-AAB08EC0FB44}"/>
              </a:ext>
            </a:extLst>
          </p:cNvPr>
          <p:cNvCxnSpPr>
            <a:cxnSpLocks/>
          </p:cNvCxnSpPr>
          <p:nvPr/>
        </p:nvCxnSpPr>
        <p:spPr>
          <a:xfrm>
            <a:off x="5010902" y="3280689"/>
            <a:ext cx="2959890" cy="133597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BDE0AF-94F9-8047-A093-A7BB76A50FD2}"/>
              </a:ext>
            </a:extLst>
          </p:cNvPr>
          <p:cNvCxnSpPr>
            <a:cxnSpLocks/>
          </p:cNvCxnSpPr>
          <p:nvPr/>
        </p:nvCxnSpPr>
        <p:spPr>
          <a:xfrm flipV="1">
            <a:off x="5010899" y="3715967"/>
            <a:ext cx="2959893" cy="129804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6A135-006A-E546-A0D4-988C78A50CC5}"/>
              </a:ext>
            </a:extLst>
          </p:cNvPr>
          <p:cNvCxnSpPr/>
          <p:nvPr/>
        </p:nvCxnSpPr>
        <p:spPr>
          <a:xfrm>
            <a:off x="7970797" y="3715967"/>
            <a:ext cx="0" cy="90069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784EB5-9901-5643-927B-C1EB0AF11273}"/>
              </a:ext>
            </a:extLst>
          </p:cNvPr>
          <p:cNvSpPr/>
          <p:nvPr/>
        </p:nvSpPr>
        <p:spPr>
          <a:xfrm>
            <a:off x="5726228" y="4675544"/>
            <a:ext cx="880907" cy="3831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DDDDD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C9769-FA5D-D24E-BF36-D2A7D9A8425A}"/>
              </a:ext>
            </a:extLst>
          </p:cNvPr>
          <p:cNvSpPr txBox="1"/>
          <p:nvPr/>
        </p:nvSpPr>
        <p:spPr>
          <a:xfrm>
            <a:off x="3786443" y="4661330"/>
            <a:ext cx="1397077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EC63B0-B1C8-D148-B3FB-FB389E7E8AB2}"/>
              </a:ext>
            </a:extLst>
          </p:cNvPr>
          <p:cNvSpPr txBox="1"/>
          <p:nvPr/>
        </p:nvSpPr>
        <p:spPr>
          <a:xfrm>
            <a:off x="5749816" y="4661330"/>
            <a:ext cx="14799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4B"/>
                </a:solidFill>
              </a:rPr>
              <a:t>Focus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3DAAE6-F674-034F-9C69-874142D6271B}"/>
              </a:ext>
            </a:extLst>
          </p:cNvPr>
          <p:cNvSpPr txBox="1"/>
          <p:nvPr/>
        </p:nvSpPr>
        <p:spPr>
          <a:xfrm>
            <a:off x="7677636" y="4661330"/>
            <a:ext cx="1184442" cy="369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Articulate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3B49EA-5556-484A-9C80-E38565C45610}"/>
              </a:ext>
            </a:extLst>
          </p:cNvPr>
          <p:cNvSpPr/>
          <p:nvPr/>
        </p:nvSpPr>
        <p:spPr>
          <a:xfrm>
            <a:off x="3964820" y="2128678"/>
            <a:ext cx="4262360" cy="54784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2FC99AB-61F9-324C-9396-ACBCB527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131" y="1731881"/>
            <a:ext cx="3509739" cy="900951"/>
          </a:xfrm>
        </p:spPr>
        <p:txBody>
          <a:bodyPr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Introspection &amp; Intuition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347552-1CBD-EF4E-845B-83AD30BB34AB}"/>
              </a:ext>
            </a:extLst>
          </p:cNvPr>
          <p:cNvSpPr txBox="1"/>
          <p:nvPr/>
        </p:nvSpPr>
        <p:spPr>
          <a:xfrm>
            <a:off x="6553347" y="2742466"/>
            <a:ext cx="1967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Looking </a:t>
            </a:r>
            <a:r>
              <a:rPr lang="en-US" b="1" i="1" dirty="0">
                <a:solidFill>
                  <a:schemeClr val="accent4"/>
                </a:solidFill>
              </a:rPr>
              <a:t>inside</a:t>
            </a:r>
            <a:endParaRPr lang="en-US" i="1" dirty="0">
              <a:solidFill>
                <a:schemeClr val="accent4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A7468A-739E-B7A3-6DB4-E2DA605B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cxnSp>
        <p:nvCxnSpPr>
          <p:cNvPr id="195" name="Footer Rule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Slide Number Box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A008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8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66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5F8B1A6-B663-0445-A4F9-3F5069BCC6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71" y="3979728"/>
            <a:ext cx="2878272" cy="28782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DB8412-2DC6-4C4E-8185-7456301837B7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5732AC-805D-7E43-9E06-1D3E19F2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6F55360-30F7-6940-A8C0-7099DC7C197B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4117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6" descr="One big red thumbtack in front of many smaller black thumbtacks">
            <a:extLst>
              <a:ext uri="{FF2B5EF4-FFF2-40B4-BE49-F238E27FC236}">
                <a16:creationId xmlns:a16="http://schemas.microsoft.com/office/drawing/2014/main" id="{49D846E2-A96A-274A-ABE8-B265F1F3F3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4631" y="2828314"/>
            <a:ext cx="4839004" cy="2129041"/>
          </a:xfrm>
          <a:prstGeom prst="roundRect">
            <a:avLst>
              <a:gd name="adj" fmla="val 5309"/>
            </a:avLst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42C355-ADB0-6C4D-B006-F55687D77176}"/>
              </a:ext>
            </a:extLst>
          </p:cNvPr>
          <p:cNvSpPr txBox="1"/>
          <p:nvPr/>
        </p:nvSpPr>
        <p:spPr>
          <a:xfrm>
            <a:off x="5840872" y="2572729"/>
            <a:ext cx="517914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 clarity about research </a:t>
            </a:r>
            <a:r>
              <a:rPr lang="en-US" b="1" dirty="0">
                <a:solidFill>
                  <a:schemeClr val="accent4"/>
                </a:solidFill>
              </a:rPr>
              <a:t>contribution</a:t>
            </a:r>
            <a:endParaRPr lang="en-US" dirty="0">
              <a:solidFill>
                <a:schemeClr val="accent4"/>
              </a:solidFill>
            </a:endParaRPr>
          </a:p>
          <a:p>
            <a:pPr marL="673200" lvl="2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Research paper, degree, x number of citations??</a:t>
            </a:r>
          </a:p>
          <a:p>
            <a:pPr marL="216000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Contribution is how we progress the field</a:t>
            </a:r>
          </a:p>
          <a:p>
            <a:pPr marL="673200" lvl="2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 is </a:t>
            </a:r>
            <a:r>
              <a:rPr lang="en-US" sz="1600" b="1" dirty="0">
                <a:solidFill>
                  <a:schemeClr val="accent4"/>
                </a:solidFill>
              </a:rPr>
              <a:t>Qualitative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in nature, as opposed to quantitative</a:t>
            </a:r>
          </a:p>
          <a:p>
            <a:pPr marL="673200" lvl="2" indent="-216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Making space for others to contribute</a:t>
            </a:r>
          </a:p>
          <a:p>
            <a:pPr marL="1130400" lvl="4" indent="-216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Beyond high quality problem solving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639775" y="595452"/>
            <a:ext cx="5292763" cy="7320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Obvious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9AAC3B-BF1F-A540-8996-87D3AD2468CB}"/>
              </a:ext>
            </a:extLst>
          </p:cNvPr>
          <p:cNvCxnSpPr/>
          <p:nvPr/>
        </p:nvCxnSpPr>
        <p:spPr>
          <a:xfrm flipV="1">
            <a:off x="6333565" y="2958353"/>
            <a:ext cx="4114800" cy="470647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BE8D94-2E7A-D046-9760-CE724AE844BB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47D1B0-51B4-594A-A451-16A180B00445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184DAD-C780-8160-E264-B6FBB732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228115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E5F47AE-0F3B-D441-84CE-CDCBA0EFB26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8D9A8CF-451A-A94C-BDF7-D9F66E0A84DD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C3E380-63A9-CC43-B89E-20974E11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4CC9A-5B94-B04A-90CD-35E9FD25802A}"/>
              </a:ext>
            </a:extLst>
          </p:cNvPr>
          <p:cNvSpPr/>
          <p:nvPr/>
        </p:nvSpPr>
        <p:spPr>
          <a:xfrm>
            <a:off x="5150804" y="1922929"/>
            <a:ext cx="6354430" cy="3939810"/>
          </a:xfrm>
          <a:prstGeom prst="roundRect">
            <a:avLst>
              <a:gd name="adj" fmla="val 4117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591536" y="586745"/>
            <a:ext cx="6456394" cy="8002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Beyond “Hot” Topics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20EDE5-322A-9647-B122-98344F79A870}"/>
              </a:ext>
            </a:extLst>
          </p:cNvPr>
          <p:cNvSpPr txBox="1"/>
          <p:nvPr/>
        </p:nvSpPr>
        <p:spPr>
          <a:xfrm>
            <a:off x="572026" y="3925733"/>
            <a:ext cx="1130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1995</a:t>
            </a:r>
          </a:p>
          <a:p>
            <a:r>
              <a:rPr lang="en-US" sz="1400" dirty="0">
                <a:solidFill>
                  <a:schemeClr val="bg1"/>
                </a:solidFill>
              </a:rPr>
              <a:t>Internet!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23E71-5B42-3542-83F3-3FFB266194B9}"/>
              </a:ext>
            </a:extLst>
          </p:cNvPr>
          <p:cNvSpPr txBox="1"/>
          <p:nvPr/>
        </p:nvSpPr>
        <p:spPr>
          <a:xfrm>
            <a:off x="3461591" y="3925733"/>
            <a:ext cx="24214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2000</a:t>
            </a:r>
          </a:p>
          <a:p>
            <a:r>
              <a:rPr lang="en-US" sz="1400" dirty="0">
                <a:solidFill>
                  <a:schemeClr val="bg1"/>
                </a:solidFill>
              </a:rPr>
              <a:t>Lot of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Networking PhDs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002AA-8FEA-614B-982B-287F2525D01A}"/>
              </a:ext>
            </a:extLst>
          </p:cNvPr>
          <p:cNvSpPr txBox="1"/>
          <p:nvPr/>
        </p:nvSpPr>
        <p:spPr>
          <a:xfrm>
            <a:off x="1209555" y="3361798"/>
            <a:ext cx="207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PhD length</a:t>
            </a:r>
            <a:endParaRPr lang="en-SG" dirty="0">
              <a:solidFill>
                <a:schemeClr val="accent4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937615-B5AC-C844-866D-FD6F0E93A329}"/>
              </a:ext>
            </a:extLst>
          </p:cNvPr>
          <p:cNvCxnSpPr>
            <a:cxnSpLocks/>
          </p:cNvCxnSpPr>
          <p:nvPr/>
        </p:nvCxnSpPr>
        <p:spPr>
          <a:xfrm>
            <a:off x="787078" y="3765854"/>
            <a:ext cx="2905246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6628E5-5A8E-774E-9C85-3407841998E5}"/>
              </a:ext>
            </a:extLst>
          </p:cNvPr>
          <p:cNvCxnSpPr/>
          <p:nvPr/>
        </p:nvCxnSpPr>
        <p:spPr>
          <a:xfrm>
            <a:off x="3692324" y="3656159"/>
            <a:ext cx="0" cy="21939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0F0D11-A6F8-8148-924D-4A62FBFD8724}"/>
              </a:ext>
            </a:extLst>
          </p:cNvPr>
          <p:cNvCxnSpPr/>
          <p:nvPr/>
        </p:nvCxnSpPr>
        <p:spPr>
          <a:xfrm>
            <a:off x="798654" y="3656159"/>
            <a:ext cx="0" cy="21939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12B11C9-D26D-7946-8E60-0D94C0D92FE3}"/>
              </a:ext>
            </a:extLst>
          </p:cNvPr>
          <p:cNvSpPr txBox="1"/>
          <p:nvPr/>
        </p:nvSpPr>
        <p:spPr>
          <a:xfrm>
            <a:off x="5768789" y="3925733"/>
            <a:ext cx="6096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Go beyond </a:t>
            </a:r>
            <a:r>
              <a:rPr lang="en-US" b="1" dirty="0">
                <a:solidFill>
                  <a:schemeClr val="accent4"/>
                </a:solidFill>
              </a:rPr>
              <a:t>hot</a:t>
            </a:r>
            <a:r>
              <a:rPr lang="en-US" dirty="0">
                <a:solidFill>
                  <a:srgbClr val="1DDDDD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areas 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Go beyond technical contributions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Conceptual contributions chart directions</a:t>
            </a:r>
          </a:p>
          <a:p>
            <a:pPr marL="216000" lvl="1" indent="-216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Help create hot areas from cool ones</a:t>
            </a:r>
            <a:r>
              <a:rPr lang="en-US" dirty="0">
                <a:solidFill>
                  <a:schemeClr val="bg1"/>
                </a:solidFill>
              </a:rPr>
              <a:t>, using</a:t>
            </a:r>
            <a:r>
              <a:rPr lang="en-US" dirty="0">
                <a:solidFill>
                  <a:schemeClr val="accent4"/>
                </a:solidFill>
              </a:rPr>
              <a:t>??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E8539B4-1207-6B4A-9582-892E2EF38A9A}"/>
              </a:ext>
            </a:extLst>
          </p:cNvPr>
          <p:cNvSpPr/>
          <p:nvPr/>
        </p:nvSpPr>
        <p:spPr>
          <a:xfrm>
            <a:off x="5806623" y="2872863"/>
            <a:ext cx="5040363" cy="8399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97555-2604-BB49-B8C3-89C98CA23605}"/>
              </a:ext>
            </a:extLst>
          </p:cNvPr>
          <p:cNvSpPr txBox="1"/>
          <p:nvPr/>
        </p:nvSpPr>
        <p:spPr>
          <a:xfrm>
            <a:off x="6109044" y="2494010"/>
            <a:ext cx="697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90A8D0-B56A-4E48-BB88-88E97D818C1E}"/>
              </a:ext>
            </a:extLst>
          </p:cNvPr>
          <p:cNvSpPr txBox="1"/>
          <p:nvPr/>
        </p:nvSpPr>
        <p:spPr>
          <a:xfrm>
            <a:off x="9944709" y="2906146"/>
            <a:ext cx="697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4"/>
                </a:solidFill>
              </a:rPr>
              <a:t>”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E757A54-94DF-3F4F-ABB4-B5B1AF9BE179}"/>
              </a:ext>
            </a:extLst>
          </p:cNvPr>
          <p:cNvSpPr txBox="1">
            <a:spLocks/>
          </p:cNvSpPr>
          <p:nvPr/>
        </p:nvSpPr>
        <p:spPr>
          <a:xfrm>
            <a:off x="6143173" y="3117597"/>
            <a:ext cx="4057579" cy="3916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solidFill>
                  <a:srgbClr val="00004B"/>
                </a:solidFill>
              </a:rPr>
              <a:t>If you see a bandwagon, it’s too late</a:t>
            </a:r>
            <a:r>
              <a:rPr lang="en-US" sz="1800" b="1" dirty="0">
                <a:solidFill>
                  <a:srgbClr val="00004B"/>
                </a:solidFill>
              </a:rPr>
              <a:t>.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8443BE-FE22-D744-A0F4-553ABC52D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8789" y="2322603"/>
            <a:ext cx="5365376" cy="5383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“hot” topic in 2025 may not be so in 2030.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8064CD-5C40-804B-8C10-29DA5D419EF6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FA9862-EFE7-3949-B280-3D167290A76C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C245A9-2F09-45FF-F966-1DD7531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188776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0F756E8-DAA3-7A48-8553-5FAF33660E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11CCD0-5468-4A45-9F7A-4E63F96B7C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2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" t="25000" r="-1" b="1"/>
          <a:stretch/>
        </p:blipFill>
        <p:spPr>
          <a:xfrm>
            <a:off x="-498543" y="-33324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8000"/>
              </a:srgbClr>
            </a:outerShdw>
          </a:effectLst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631778" y="632240"/>
            <a:ext cx="6896665" cy="756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&amp; 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15013C8-CC5A-2746-9368-ADE463399699}"/>
              </a:ext>
            </a:extLst>
          </p:cNvPr>
          <p:cNvSpPr/>
          <p:nvPr/>
        </p:nvSpPr>
        <p:spPr>
          <a:xfrm>
            <a:off x="463639" y="2101200"/>
            <a:ext cx="4681571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4B"/>
                </a:solidFill>
              </a:rPr>
              <a:t>Contributions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D81C11C-65AB-D44D-9034-8040A673E169}"/>
              </a:ext>
            </a:extLst>
          </p:cNvPr>
          <p:cNvSpPr/>
          <p:nvPr/>
        </p:nvSpPr>
        <p:spPr>
          <a:xfrm>
            <a:off x="5330605" y="2101200"/>
            <a:ext cx="4681571" cy="4572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4B"/>
                </a:solidFill>
              </a:rPr>
              <a:t>Attributes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AA0AE9-D242-AB4D-A8CA-4B8BDDA21258}"/>
              </a:ext>
            </a:extLst>
          </p:cNvPr>
          <p:cNvGraphicFramePr>
            <a:graphicFrameLocks noGrp="1"/>
          </p:cNvGraphicFramePr>
          <p:nvPr/>
        </p:nvGraphicFramePr>
        <p:xfrm>
          <a:off x="827645" y="2610332"/>
          <a:ext cx="39528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2800">
                  <a:extLst>
                    <a:ext uri="{9D8B030D-6E8A-4147-A177-3AD203B41FA5}">
                      <a16:colId xmlns:a16="http://schemas.microsoft.com/office/drawing/2014/main" val="1525993213"/>
                    </a:ext>
                  </a:extLst>
                </a:gridCol>
              </a:tblGrid>
              <a:tr h="6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“Utilitarian” Contribution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01243"/>
                  </a:ext>
                </a:extLst>
              </a:tr>
              <a:tr h="67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Contribution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329888"/>
                  </a:ext>
                </a:extLst>
              </a:tr>
              <a:tr h="6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Conceptual Contribution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52718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D2C6916-5AC2-E845-8215-03E76847F631}"/>
              </a:ext>
            </a:extLst>
          </p:cNvPr>
          <p:cNvSpPr txBox="1"/>
          <p:nvPr/>
        </p:nvSpPr>
        <p:spPr>
          <a:xfrm>
            <a:off x="6409749" y="4028855"/>
            <a:ext cx="2523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4"/>
                </a:solidFill>
              </a:rPr>
              <a:t>Imagination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0E5443-10C8-9346-BC30-B79A2035FC69}"/>
              </a:ext>
            </a:extLst>
          </p:cNvPr>
          <p:cNvSpPr txBox="1"/>
          <p:nvPr/>
        </p:nvSpPr>
        <p:spPr>
          <a:xfrm>
            <a:off x="5330605" y="3395676"/>
            <a:ext cx="468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Introspection &amp; Intuition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345750-1F0B-B548-B64C-F5D794D6A571}"/>
              </a:ext>
            </a:extLst>
          </p:cNvPr>
          <p:cNvCxnSpPr>
            <a:cxnSpLocks/>
          </p:cNvCxnSpPr>
          <p:nvPr/>
        </p:nvCxnSpPr>
        <p:spPr>
          <a:xfrm>
            <a:off x="5695369" y="3273813"/>
            <a:ext cx="39528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AA165E-DB77-6D47-8041-1F05248F5049}"/>
              </a:ext>
            </a:extLst>
          </p:cNvPr>
          <p:cNvCxnSpPr>
            <a:cxnSpLocks/>
          </p:cNvCxnSpPr>
          <p:nvPr/>
        </p:nvCxnSpPr>
        <p:spPr>
          <a:xfrm>
            <a:off x="5695369" y="3948039"/>
            <a:ext cx="39528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F67C4F5-117C-2642-8078-E836BB21BB80}"/>
              </a:ext>
            </a:extLst>
          </p:cNvPr>
          <p:cNvSpPr txBox="1"/>
          <p:nvPr/>
        </p:nvSpPr>
        <p:spPr>
          <a:xfrm>
            <a:off x="5597457" y="2717877"/>
            <a:ext cx="4147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Initiative &amp; Interest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202134-FF24-FA46-A85C-BC20924009A0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DFAE34-3319-BC46-8F3D-353BE544AD33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F8637661-1A98-7C19-FF36-B405B089D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989" y="4612268"/>
            <a:ext cx="3358180" cy="183001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C6CB13-BFB3-7327-EA5F-395A0D19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</p:spTree>
    <p:extLst>
      <p:ext uri="{BB962C8B-B14F-4D97-AF65-F5344CB8AC3E}">
        <p14:creationId xmlns:p14="http://schemas.microsoft.com/office/powerpoint/2010/main" val="78980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61460B2-0166-AC44-9A4F-445A316EE10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819455C-3C94-7043-A6FB-B9E45E78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C9197319-2B6B-BA4F-8C30-BD1155C26607}"/>
              </a:ext>
            </a:extLst>
          </p:cNvPr>
          <p:cNvSpPr txBox="1">
            <a:spLocks/>
          </p:cNvSpPr>
          <p:nvPr/>
        </p:nvSpPr>
        <p:spPr>
          <a:xfrm>
            <a:off x="631118" y="633581"/>
            <a:ext cx="10693999" cy="726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Mentoring: Encouraging Such Attributes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342FB-25DF-DA48-97BA-AE1B3499B22F}"/>
              </a:ext>
            </a:extLst>
          </p:cNvPr>
          <p:cNvSpPr/>
          <p:nvPr/>
        </p:nvSpPr>
        <p:spPr>
          <a:xfrm rot="5400000">
            <a:off x="-70961" y="866853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EAA15B-87EE-804F-9C64-7A0F6E4E139E}"/>
              </a:ext>
            </a:extLst>
          </p:cNvPr>
          <p:cNvSpPr/>
          <p:nvPr/>
        </p:nvSpPr>
        <p:spPr>
          <a:xfrm>
            <a:off x="2561857" y="4028956"/>
            <a:ext cx="4467828" cy="483243"/>
          </a:xfrm>
          <a:prstGeom prst="roundRect">
            <a:avLst>
              <a:gd name="adj" fmla="val 50000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F11B0F-6C67-5141-9615-776D8DC842B2}"/>
              </a:ext>
            </a:extLst>
          </p:cNvPr>
          <p:cNvSpPr/>
          <p:nvPr/>
        </p:nvSpPr>
        <p:spPr>
          <a:xfrm>
            <a:off x="2561857" y="3357625"/>
            <a:ext cx="4467828" cy="483243"/>
          </a:xfrm>
          <a:prstGeom prst="roundRect">
            <a:avLst>
              <a:gd name="adj" fmla="val 50000"/>
            </a:avLst>
          </a:prstGeom>
          <a:solidFill>
            <a:srgbClr val="00004B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F8402-5B25-BA45-86B1-16E93AC1C843}"/>
              </a:ext>
            </a:extLst>
          </p:cNvPr>
          <p:cNvSpPr txBox="1"/>
          <p:nvPr/>
        </p:nvSpPr>
        <p:spPr>
          <a:xfrm>
            <a:off x="2820360" y="3428740"/>
            <a:ext cx="4089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chemeClr val="bg1"/>
                </a:solidFill>
              </a:rPr>
              <a:t>Papers     &lt;       Placement    &lt;    Discussions</a:t>
            </a:r>
          </a:p>
          <a:p>
            <a:endParaRPr lang="en-US" sz="1500" i="1" dirty="0">
              <a:solidFill>
                <a:schemeClr val="bg1"/>
              </a:solidFill>
            </a:endParaRPr>
          </a:p>
          <a:p>
            <a:endParaRPr lang="en-US" sz="1500" i="1" dirty="0">
              <a:solidFill>
                <a:schemeClr val="bg1"/>
              </a:solidFill>
            </a:endParaRPr>
          </a:p>
          <a:p>
            <a:r>
              <a:rPr lang="en-US" sz="1500" b="1" i="1" dirty="0">
                <a:solidFill>
                  <a:schemeClr val="bg1"/>
                </a:solidFill>
              </a:rPr>
              <a:t>Output     </a:t>
            </a:r>
            <a:r>
              <a:rPr lang="en-US" sz="1500" i="1" dirty="0">
                <a:solidFill>
                  <a:schemeClr val="bg1"/>
                </a:solidFill>
              </a:rPr>
              <a:t>&lt;</a:t>
            </a:r>
            <a:r>
              <a:rPr lang="en-US" sz="1500" b="1" i="1" dirty="0">
                <a:solidFill>
                  <a:schemeClr val="bg1"/>
                </a:solidFill>
              </a:rPr>
              <a:t>        Outcome    </a:t>
            </a:r>
            <a:r>
              <a:rPr lang="en-US" sz="1500" i="1" dirty="0">
                <a:solidFill>
                  <a:schemeClr val="bg1"/>
                </a:solidFill>
              </a:rPr>
              <a:t>&lt; </a:t>
            </a:r>
            <a:r>
              <a:rPr lang="en-US" sz="1500" b="1" i="1" dirty="0">
                <a:solidFill>
                  <a:schemeClr val="bg1"/>
                </a:solidFill>
              </a:rPr>
              <a:t>   Experience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394FAD-21CA-224D-BC57-47155B718994}"/>
              </a:ext>
            </a:extLst>
          </p:cNvPr>
          <p:cNvGrpSpPr/>
          <p:nvPr/>
        </p:nvGrpSpPr>
        <p:grpSpPr>
          <a:xfrm>
            <a:off x="2230051" y="4681154"/>
            <a:ext cx="5015691" cy="654226"/>
            <a:chOff x="5505691" y="4681414"/>
            <a:chExt cx="5015691" cy="6542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BBB77B-D17D-5545-A7C5-42F5137CA882}"/>
                </a:ext>
              </a:extLst>
            </p:cNvPr>
            <p:cNvSpPr txBox="1"/>
            <p:nvPr/>
          </p:nvSpPr>
          <p:spPr>
            <a:xfrm>
              <a:off x="7882354" y="4689309"/>
              <a:ext cx="956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spc="-300" dirty="0">
                  <a:solidFill>
                    <a:schemeClr val="accent4"/>
                  </a:solidFill>
                </a:rPr>
                <a:t>&lt;&lt;</a:t>
              </a:r>
              <a:endParaRPr lang="en-SG" sz="3600" spc="-300" dirty="0">
                <a:solidFill>
                  <a:schemeClr val="accent4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F3A709-DD27-BF4D-82A5-1650C0E5D74E}"/>
                </a:ext>
              </a:extLst>
            </p:cNvPr>
            <p:cNvSpPr txBox="1"/>
            <p:nvPr/>
          </p:nvSpPr>
          <p:spPr>
            <a:xfrm>
              <a:off x="5505691" y="4681414"/>
              <a:ext cx="24229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200" dirty="0">
                  <a:solidFill>
                    <a:schemeClr val="accent4"/>
                  </a:solidFill>
                </a:rPr>
                <a:t>Supervision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BE2B0D-68E8-C14A-B031-E4DC95C89960}"/>
                </a:ext>
              </a:extLst>
            </p:cNvPr>
            <p:cNvSpPr txBox="1"/>
            <p:nvPr/>
          </p:nvSpPr>
          <p:spPr>
            <a:xfrm>
              <a:off x="8792974" y="4681414"/>
              <a:ext cx="17284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4"/>
                  </a:solidFill>
                </a:rPr>
                <a:t>Advising</a:t>
              </a: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21634F-781F-F340-B03C-43342CCAA384}"/>
              </a:ext>
            </a:extLst>
          </p:cNvPr>
          <p:cNvSpPr/>
          <p:nvPr/>
        </p:nvSpPr>
        <p:spPr>
          <a:xfrm>
            <a:off x="7419308" y="3371071"/>
            <a:ext cx="2857710" cy="1772961"/>
          </a:xfrm>
          <a:prstGeom prst="roundRect">
            <a:avLst>
              <a:gd name="adj" fmla="val 1049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00004B"/>
                </a:solidFill>
                <a:latin typeface="+mj-lt"/>
              </a:rPr>
              <a:t>But, how to achieve it?</a:t>
            </a:r>
            <a:endParaRPr lang="en-SG" b="1" i="1" dirty="0">
              <a:solidFill>
                <a:srgbClr val="00004B"/>
              </a:solidFill>
              <a:latin typeface="+mj-l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9268D2-D179-B44C-8AD4-3682051FB4A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9809" y="2380139"/>
            <a:ext cx="914078" cy="9140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EC753A-413D-AD47-AE37-F5000239253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4099" y="2380139"/>
            <a:ext cx="914078" cy="91407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707074-1B91-0746-8FDD-91AC91E49E2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3263" y="2380139"/>
            <a:ext cx="914078" cy="91407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16ABAAE-221C-FD4E-B00C-4573EB8E0A5F}"/>
              </a:ext>
            </a:extLst>
          </p:cNvPr>
          <p:cNvSpPr txBox="1"/>
          <p:nvPr/>
        </p:nvSpPr>
        <p:spPr>
          <a:xfrm>
            <a:off x="3368218" y="2675596"/>
            <a:ext cx="35418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chemeClr val="accent4"/>
                </a:solidFill>
              </a:rPr>
              <a:t>      &lt;                            &lt;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437DD6-C8F3-DDE4-25B7-D1ACAD97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cxnSp>
        <p:nvCxnSpPr>
          <p:cNvPr id="195" name="Footer Rule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Slide Number Box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A012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12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2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5958327-FA9B-0241-80D6-E18E776E4E3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725072-E171-6541-B58D-6BBA481E499D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28865D-3DD0-CF4A-90A6-DF93A052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C8136207-B810-6543-83B8-D7C38A68F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0699" y="1586678"/>
            <a:ext cx="8044813" cy="4558194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C1C8E73-0329-D646-B532-188F992411A4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9711866" cy="726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Blast From Past ~10 Yr Ago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42B0F-2ABB-5B48-8490-CE2D1A09FA35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575E2C-DA28-AF4F-89C6-81569760A3D1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F0DA0-063F-BA16-9CC1-991DB577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40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pied Picture 8">
            <a:extLst>
              <a:ext uri="{FF2B5EF4-FFF2-40B4-BE49-F238E27FC236}">
                <a16:creationId xmlns:a16="http://schemas.microsoft.com/office/drawing/2014/main" id="{C4E88A48-4F92-95DA-852D-B304B68997E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5100"/>
            <a:ext cx="2882900" cy="2882900"/>
          </a:xfrm>
          <a:prstGeom prst="rect">
            <a:avLst/>
          </a:prstGeom>
        </p:spPr>
      </p:pic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0E61BF44-E313-1EE6-2348-028E256F3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347" y="303150"/>
            <a:ext cx="8394700" cy="8415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1866900"/>
            <a:ext cx="7874000" cy="42418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dirty="0">
                <a:solidFill>
                  <a:schemeClr val="bg1"/>
                </a:solidFill>
              </a:rPr>
              <a:t>Each research community goes in waves 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Interest in a technology often reduces.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Translation over a period of time can sustain that interest. 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Translation can also move the area into other directions over a longer time e.g. decades </a:t>
            </a:r>
          </a:p>
          <a:p>
            <a:pPr lvl="1">
              <a:spcBef>
                <a:spcPts val="800"/>
              </a:spcBef>
            </a:pPr>
            <a:r>
              <a:rPr lang="en-US" i="1" dirty="0">
                <a:solidFill>
                  <a:schemeClr val="bg1"/>
                </a:solidFill>
              </a:rPr>
              <a:t>Why a certain topic is not translated?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2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3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14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Footer Placeholder 64"/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76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C4E88A48-4F92-95DA-852D-B304B68997E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5100"/>
            <a:ext cx="2882900" cy="2882900"/>
          </a:xfrm>
          <a:prstGeom prst="rect">
            <a:avLst/>
          </a:prstGeom>
        </p:spPr>
      </p:pic>
      <p:pic>
        <p:nvPicPr>
          <p:cNvPr id="8" name="Copied Picture 8">
            <a:extLst>
              <a:ext uri="{FF2B5EF4-FFF2-40B4-BE49-F238E27FC236}">
                <a16:creationId xmlns:a16="http://schemas.microsoft.com/office/drawing/2014/main" id="{0E61BF44-E313-1EE6-2348-028E256F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81000"/>
            <a:ext cx="8394700" cy="72245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86776"/>
            <a:ext cx="6350000" cy="42418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dirty="0">
                <a:solidFill>
                  <a:schemeClr val="bg1"/>
                </a:solidFill>
              </a:rPr>
              <a:t>Little bit of a story of start-up success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Why is a start-up not successful 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Not enough investment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Steady marketing blitz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…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Alternate ways of doing it 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Inferior technology</a:t>
            </a:r>
          </a:p>
          <a:p>
            <a:pPr lvl="2">
              <a:spcBef>
                <a:spcPts val="200"/>
              </a:spcBef>
            </a:pPr>
            <a:r>
              <a:rPr lang="en-US" dirty="0">
                <a:solidFill>
                  <a:schemeClr val="bg1"/>
                </a:solidFill>
              </a:rPr>
              <a:t>…</a:t>
            </a:r>
          </a:p>
          <a:p>
            <a:pPr lvl="2">
              <a:spcBef>
                <a:spcPts val="200"/>
              </a:spcBef>
            </a:pPr>
            <a:r>
              <a:rPr lang="en-US" i="1" dirty="0">
                <a:solidFill>
                  <a:schemeClr val="accent4"/>
                </a:solidFill>
              </a:rPr>
              <a:t>Falls through the cracks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chemeClr val="bg1"/>
                </a:solidFill>
              </a:rPr>
              <a:t>Need investment for translation, may not be in funds.  This is the nuanced aspect.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2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3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15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Footer Placeholder 64"/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4" name="Image Card">
            <a:extLst>
              <a:ext uri="{FF2B5EF4-FFF2-40B4-BE49-F238E27FC236}">
                <a16:creationId xmlns:a16="http://schemas.microsoft.com/office/drawing/2014/main" id="{1618E29C-3ED2-F842-A65F-DD08A7118AC5}"/>
              </a:ext>
            </a:extLst>
          </p:cNvPr>
          <p:cNvSpPr/>
          <p:nvPr/>
        </p:nvSpPr>
        <p:spPr>
          <a:xfrm>
            <a:off x="7886700" y="1905000"/>
            <a:ext cx="2501900" cy="2501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2082800"/>
            <a:ext cx="2146300" cy="2146300"/>
          </a:xfrm>
          <a:prstGeom prst="rect">
            <a:avLst/>
          </a:prstGeom>
        </p:spPr>
      </p:pic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5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C4E88A48-4F92-95DA-852D-B304B68997E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5100"/>
            <a:ext cx="2882900" cy="2882900"/>
          </a:xfrm>
          <a:prstGeom prst="rect">
            <a:avLst/>
          </a:prstGeom>
        </p:spPr>
      </p:pic>
      <p:pic>
        <p:nvPicPr>
          <p:cNvPr id="8" name="Copied Picture 8">
            <a:extLst>
              <a:ext uri="{FF2B5EF4-FFF2-40B4-BE49-F238E27FC236}">
                <a16:creationId xmlns:a16="http://schemas.microsoft.com/office/drawing/2014/main" id="{0E61BF44-E313-1EE6-2348-028E256F3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81000"/>
            <a:ext cx="8394700" cy="72245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3720"/>
            <a:ext cx="6350000" cy="42418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dirty="0">
                <a:solidFill>
                  <a:schemeClr val="bg1"/>
                </a:solidFill>
              </a:rPr>
              <a:t>Who would be interested?</a:t>
            </a:r>
          </a:p>
          <a:p>
            <a:pPr>
              <a:spcBef>
                <a:spcPts val="800"/>
              </a:spcBef>
            </a:pPr>
            <a:r>
              <a:rPr lang="en-US" dirty="0">
                <a:solidFill>
                  <a:schemeClr val="bg1"/>
                </a:solidFill>
              </a:rPr>
              <a:t>Who would fund it, if they had 1B?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Only a </a:t>
            </a:r>
            <a:r>
              <a:rPr lang="en-US" i="1" dirty="0">
                <a:solidFill>
                  <a:schemeClr val="bg1"/>
                </a:solidFill>
              </a:rPr>
              <a:t>thought experiment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Does not preclude theoretical research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Level of interest in a topic in research community  is not necessarily linked </a:t>
            </a:r>
            <a:r>
              <a:rPr lang="en-US" dirty="0">
                <a:solidFill>
                  <a:schemeClr val="accent4"/>
                </a:solidFill>
              </a:rPr>
              <a:t>translation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spcBef>
                <a:spcPts val="1000"/>
              </a:spcBef>
            </a:pPr>
            <a:r>
              <a:rPr lang="en-US" i="1" dirty="0">
                <a:solidFill>
                  <a:schemeClr val="bg1"/>
                </a:solidFill>
              </a:rPr>
              <a:t>Time-line for deployment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5-50 years</a:t>
            </a:r>
          </a:p>
          <a:p>
            <a:pPr lvl="1">
              <a:spcBef>
                <a:spcPts val="400"/>
              </a:spcBef>
            </a:pPr>
            <a:r>
              <a:rPr lang="en-US" dirty="0">
                <a:solidFill>
                  <a:schemeClr val="bg1"/>
                </a:solidFill>
              </a:rPr>
              <a:t>Thought experiment only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2"/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3"/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16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Footer Placeholder 64"/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4" name="Image Card">
            <a:extLst>
              <a:ext uri="{FF2B5EF4-FFF2-40B4-BE49-F238E27FC236}">
                <a16:creationId xmlns:a16="http://schemas.microsoft.com/office/drawing/2014/main" id="{6A2FE772-B94E-0E47-AF30-B95703426273}"/>
              </a:ext>
            </a:extLst>
          </p:cNvPr>
          <p:cNvSpPr/>
          <p:nvPr/>
        </p:nvSpPr>
        <p:spPr>
          <a:xfrm>
            <a:off x="7975600" y="1905000"/>
            <a:ext cx="2413000" cy="2578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082800"/>
            <a:ext cx="2057400" cy="2222500"/>
          </a:xfrm>
          <a:prstGeom prst="rect">
            <a:avLst/>
          </a:prstGeom>
        </p:spPr>
      </p:pic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41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0C7F0-834D-BF0D-CCFF-F935A4C3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4E88A48-4F92-95DA-852D-B304B68997E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EAB0D0-28E5-1057-EEB9-C0448B6FAABC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61BF44-E313-1EE6-2348-028E256F3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8DB7675-B656-63CE-68D3-ED443F48D13C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8399033" cy="2009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D20A29-F2EE-AF11-3DE4-F8A8A6DED9DD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17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ED148C-CE17-E673-8305-9A97A5A13813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461E1-D44B-E006-B071-08A2400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00FBA-E45E-5C5E-D757-AAF92FEBD25F}"/>
              </a:ext>
            </a:extLst>
          </p:cNvPr>
          <p:cNvSpPr txBox="1"/>
          <p:nvPr/>
        </p:nvSpPr>
        <p:spPr>
          <a:xfrm>
            <a:off x="1041197" y="1544189"/>
            <a:ext cx="80635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First Half:</a:t>
            </a:r>
          </a:p>
          <a:p>
            <a:pPr rtl="0">
              <a:buNone/>
            </a:pPr>
            <a:endParaRPr lang="en-SG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SG" b="0" i="0" u="none" strike="noStrike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W1:  Fish model of PhD - placing of innovation with respect to research 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W2: </a:t>
            </a:r>
            <a:r>
              <a:rPr lang="en-SG" b="0" i="1" u="none" strike="noStrike" dirty="0">
                <a:solidFill>
                  <a:schemeClr val="bg1"/>
                </a:solidFill>
                <a:effectLst/>
              </a:rPr>
              <a:t>Discussion by students on their PhD - give suggestions about the role of innovation.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W3: The ideation process in general - imagination - and its modified role in innovation. 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W4: </a:t>
            </a:r>
            <a:r>
              <a:rPr lang="en-SG" b="0" i="1" u="none" strike="noStrike" dirty="0">
                <a:solidFill>
                  <a:schemeClr val="bg1"/>
                </a:solidFill>
                <a:effectLst/>
              </a:rPr>
              <a:t>Discussion by students on their ideation process - and suggestions about innovation.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W5: Example of successful AI driven innovation - </a:t>
            </a:r>
            <a:r>
              <a:rPr lang="en-SG" b="0" i="0" u="none" strike="noStrike" dirty="0" err="1">
                <a:solidFill>
                  <a:schemeClr val="bg1"/>
                </a:solidFill>
                <a:effectLst/>
              </a:rPr>
              <a:t>AutoCodeRover</a:t>
            </a: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. 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W6: </a:t>
            </a:r>
            <a:r>
              <a:rPr lang="en-SG" b="0" i="1" u="none" strike="noStrike" dirty="0">
                <a:solidFill>
                  <a:schemeClr val="bg1"/>
                </a:solidFill>
                <a:effectLst/>
              </a:rPr>
              <a:t>Discussion by students on what role AI can play in innovation of their deep tech PhD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SG" b="0" i="0" u="none" strike="noStrike" dirty="0">
                <a:solidFill>
                  <a:schemeClr val="bg1"/>
                </a:solidFill>
                <a:effectLst/>
              </a:rPr>
              <a:t>&lt;Recess week&gt;</a:t>
            </a:r>
            <a:endParaRPr lang="en-SG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SG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F7BE5-EBAC-E2E8-540C-3B4B448ADA87}"/>
              </a:ext>
            </a:extLst>
          </p:cNvPr>
          <p:cNvSpPr txBox="1"/>
          <p:nvPr/>
        </p:nvSpPr>
        <p:spPr>
          <a:xfrm>
            <a:off x="584200" y="381000"/>
            <a:ext cx="83947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Schedule</a:t>
            </a:r>
          </a:p>
        </p:txBody>
      </p:sp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5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6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F9E3C-F9A8-FC2F-FCFF-027A1010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5B791F9-D12D-D37C-E452-B0568BFD33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3979728"/>
            <a:ext cx="2878272" cy="28782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958F58-D877-CC9F-D1FE-B78E9E60CBF1}"/>
              </a:ext>
            </a:extLst>
          </p:cNvPr>
          <p:cNvSpPr/>
          <p:nvPr/>
        </p:nvSpPr>
        <p:spPr>
          <a:xfrm>
            <a:off x="10542494" y="0"/>
            <a:ext cx="16495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1A6BD7-52F0-F1FB-7E06-4225C4CE6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8900" y="0"/>
            <a:ext cx="5753100" cy="57531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48C8649-054F-5896-B221-BDC4909F3C3A}"/>
              </a:ext>
            </a:extLst>
          </p:cNvPr>
          <p:cNvSpPr txBox="1">
            <a:spLocks/>
          </p:cNvSpPr>
          <p:nvPr/>
        </p:nvSpPr>
        <p:spPr>
          <a:xfrm>
            <a:off x="583601" y="378494"/>
            <a:ext cx="8399033" cy="2009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27D65-961C-AE52-ED07-9F8779B91B2C}"/>
              </a:ext>
            </a:extLst>
          </p:cNvPr>
          <p:cNvSpPr txBox="1"/>
          <p:nvPr/>
        </p:nvSpPr>
        <p:spPr>
          <a:xfrm>
            <a:off x="8113357" y="6383908"/>
            <a:ext cx="23012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095BFBF-98AE-8D49-8763-79F889582214}" type="slidenum">
              <a:rPr lang="en-US" sz="105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18</a:t>
            </a:fld>
            <a:endParaRPr lang="en-US" sz="105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996470-EE62-A9D5-0D24-AACC59462AC6}"/>
              </a:ext>
            </a:extLst>
          </p:cNvPr>
          <p:cNvCxnSpPr/>
          <p:nvPr/>
        </p:nvCxnSpPr>
        <p:spPr>
          <a:xfrm>
            <a:off x="3877519" y="6516547"/>
            <a:ext cx="57746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5BB48-F617-CEAC-7CE3-FE952016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0" y="6311900"/>
            <a:ext cx="3810000" cy="254000"/>
          </a:xfrm>
        </p:spPr>
        <p:txBody>
          <a:bodyPr/>
          <a:lstStyle/>
          <a:p>
            <a:pPr algn="l"/>
            <a:r>
              <a:rPr lang="en-US" sz="1050" b="1" spc="1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NG5004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76733-7525-8198-E7E0-380701284708}"/>
              </a:ext>
            </a:extLst>
          </p:cNvPr>
          <p:cNvSpPr txBox="1"/>
          <p:nvPr/>
        </p:nvSpPr>
        <p:spPr>
          <a:xfrm>
            <a:off x="1009992" y="2002969"/>
            <a:ext cx="74807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Second Half:</a:t>
            </a:r>
          </a:p>
          <a:p>
            <a:endParaRPr lang="en-SG" dirty="0">
              <a:solidFill>
                <a:schemeClr val="bg1"/>
              </a:solidFill>
            </a:endParaRPr>
          </a:p>
          <a:p>
            <a:r>
              <a:rPr lang="en-SG" dirty="0">
                <a:solidFill>
                  <a:schemeClr val="bg1"/>
                </a:solidFill>
              </a:rPr>
              <a:t>W7:  Funding model - visit by VCs </a:t>
            </a:r>
          </a:p>
          <a:p>
            <a:r>
              <a:rPr lang="en-SG" dirty="0">
                <a:solidFill>
                  <a:schemeClr val="bg1"/>
                </a:solidFill>
              </a:rPr>
              <a:t>W8: NUS well being day </a:t>
            </a:r>
          </a:p>
          <a:p>
            <a:r>
              <a:rPr lang="en-SG" dirty="0">
                <a:solidFill>
                  <a:schemeClr val="bg1"/>
                </a:solidFill>
              </a:rPr>
              <a:t>W9:  NUS Enterprise staff share his vision as venture architect</a:t>
            </a:r>
          </a:p>
          <a:p>
            <a:r>
              <a:rPr lang="en-SG" dirty="0">
                <a:solidFill>
                  <a:schemeClr val="bg1"/>
                </a:solidFill>
              </a:rPr>
              <a:t>W10: Meet each student team outside class to get their sharing pitch </a:t>
            </a:r>
          </a:p>
          <a:p>
            <a:r>
              <a:rPr lang="en-SG" dirty="0">
                <a:solidFill>
                  <a:schemeClr val="bg1"/>
                </a:solidFill>
              </a:rPr>
              <a:t>W11: Sharing by successful academic entrepreneur / innovation guru</a:t>
            </a:r>
          </a:p>
          <a:p>
            <a:r>
              <a:rPr lang="en-SG" dirty="0">
                <a:solidFill>
                  <a:schemeClr val="bg1"/>
                </a:solidFill>
              </a:rPr>
              <a:t>W12: Pitch by students</a:t>
            </a:r>
          </a:p>
          <a:p>
            <a:r>
              <a:rPr lang="en-SG" dirty="0">
                <a:solidFill>
                  <a:schemeClr val="bg1"/>
                </a:solidFill>
              </a:rPr>
              <a:t>W13: Group exercise: meet in class and craft a joint report together.</a:t>
            </a:r>
          </a:p>
          <a:p>
            <a:br>
              <a:rPr lang="en-SG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B78C7-4E6C-5195-E2F9-9423BC264122}"/>
              </a:ext>
            </a:extLst>
          </p:cNvPr>
          <p:cNvSpPr txBox="1"/>
          <p:nvPr/>
        </p:nvSpPr>
        <p:spPr>
          <a:xfrm>
            <a:off x="584200" y="381000"/>
            <a:ext cx="83947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Schedule</a:t>
            </a:r>
          </a:p>
        </p:txBody>
      </p:sp>
      <p:sp>
        <p:nvSpPr>
          <p:cNvPr id="90" name="Title Accent Bar"/>
          <p:cNvSpPr/>
          <p:nvPr/>
        </p:nvSpPr>
        <p:spPr>
          <a:xfrm rot="5400000">
            <a:off x="-73150" y="687900"/>
            <a:ext cx="9972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3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4989481457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F8B9B1-86C0-5A48-8C6D-A39AD577A89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9528bbb-d400-4112-8f2e-465361c9b4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756</Words>
  <Application>Microsoft Macintosh PowerPoint</Application>
  <PresentationFormat>Widescreen</PresentationFormat>
  <Paragraphs>187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Segoe Script</vt:lpstr>
      <vt:lpstr>Times New Roman</vt:lpstr>
      <vt:lpstr>Office Theme</vt:lpstr>
      <vt:lpstr>Office Theme [1784989481457]</vt:lpstr>
      <vt:lpstr>“Beyond”  the PhD Thesis</vt:lpstr>
      <vt:lpstr>PowerPoint Presentation</vt:lpstr>
      <vt:lpstr>Attributes of PhD</vt:lpstr>
      <vt:lpstr>PowerPoint Presentation</vt:lpstr>
      <vt:lpstr>PowerPoint Presentation</vt:lpstr>
      <vt:lpstr>Initiative &amp; Interest</vt:lpstr>
      <vt:lpstr>PowerPoint Presentation</vt:lpstr>
      <vt:lpstr>Introspection &amp;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Translation</vt:lpstr>
      <vt:lpstr>Lack of Translation</vt:lpstr>
      <vt:lpstr>Research Topic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PhD thesis</dc:title>
  <dc:creator>TKL</dc:creator>
  <cp:lastModifiedBy>Yuntong Zhang</cp:lastModifiedBy>
  <cp:revision>71</cp:revision>
  <dcterms:created xsi:type="dcterms:W3CDTF">2025-09-09T02:30:29Z</dcterms:created>
  <dcterms:modified xsi:type="dcterms:W3CDTF">2026-07-25T16:28:04Z</dcterms:modified>
</cp:coreProperties>
</file>